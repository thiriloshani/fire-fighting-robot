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askervville" pitchFamily="2" charset="0"/>
      <p:regular r:id="rId13"/>
    </p:embeddedFont>
    <p:embeddedFont>
      <p:font typeface="Poppins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A3552-4A12-D24C-81F4-8698B012839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E022A-C05D-8941-AD33-C444BC1F68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1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5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 /><Relationship Id="rId3" Type="http://schemas.openxmlformats.org/officeDocument/2006/relationships/image" Target="../media/image6.png" /><Relationship Id="rId7" Type="http://schemas.openxmlformats.org/officeDocument/2006/relationships/image" Target="../media/image10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9.svg" /><Relationship Id="rId5" Type="http://schemas.openxmlformats.org/officeDocument/2006/relationships/image" Target="../media/image8.png" /><Relationship Id="rId10" Type="http://schemas.openxmlformats.org/officeDocument/2006/relationships/image" Target="../media/image13.svg" /><Relationship Id="rId4" Type="http://schemas.openxmlformats.org/officeDocument/2006/relationships/image" Target="../media/image7.svg" /><Relationship Id="rId9" Type="http://schemas.openxmlformats.org/officeDocument/2006/relationships/image" Target="../media/image12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 /><Relationship Id="rId13" Type="http://schemas.openxmlformats.org/officeDocument/2006/relationships/image" Target="../media/image24.svg" /><Relationship Id="rId3" Type="http://schemas.openxmlformats.org/officeDocument/2006/relationships/image" Target="../media/image14.png" /><Relationship Id="rId7" Type="http://schemas.openxmlformats.org/officeDocument/2006/relationships/image" Target="../media/image18.svg" /><Relationship Id="rId12" Type="http://schemas.openxmlformats.org/officeDocument/2006/relationships/image" Target="../media/image2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7.png" /><Relationship Id="rId11" Type="http://schemas.openxmlformats.org/officeDocument/2006/relationships/image" Target="../media/image22.svg" /><Relationship Id="rId5" Type="http://schemas.openxmlformats.org/officeDocument/2006/relationships/image" Target="../media/image16.svg" /><Relationship Id="rId10" Type="http://schemas.openxmlformats.org/officeDocument/2006/relationships/image" Target="../media/image21.png" /><Relationship Id="rId4" Type="http://schemas.openxmlformats.org/officeDocument/2006/relationships/image" Target="../media/image15.png" /><Relationship Id="rId9" Type="http://schemas.openxmlformats.org/officeDocument/2006/relationships/image" Target="../media/image20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8.png" /><Relationship Id="rId4" Type="http://schemas.openxmlformats.org/officeDocument/2006/relationships/image" Target="../media/image27.png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 /><Relationship Id="rId3" Type="http://schemas.openxmlformats.org/officeDocument/2006/relationships/image" Target="../media/image29.png" /><Relationship Id="rId7" Type="http://schemas.openxmlformats.org/officeDocument/2006/relationships/image" Target="../media/image33.sv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6" Type="http://schemas.openxmlformats.org/officeDocument/2006/relationships/image" Target="../media/image32.png" /><Relationship Id="rId11" Type="http://schemas.openxmlformats.org/officeDocument/2006/relationships/image" Target="../media/image37.svg" /><Relationship Id="rId5" Type="http://schemas.openxmlformats.org/officeDocument/2006/relationships/image" Target="../media/image31.svg" /><Relationship Id="rId10" Type="http://schemas.openxmlformats.org/officeDocument/2006/relationships/image" Target="../media/image36.png" /><Relationship Id="rId4" Type="http://schemas.openxmlformats.org/officeDocument/2006/relationships/image" Target="../media/image30.png" /><Relationship Id="rId9" Type="http://schemas.openxmlformats.org/officeDocument/2006/relationships/image" Target="../media/image35.sv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 /><Relationship Id="rId3" Type="http://schemas.openxmlformats.org/officeDocument/2006/relationships/image" Target="../media/image39.png" /><Relationship Id="rId7" Type="http://schemas.openxmlformats.org/officeDocument/2006/relationships/image" Target="../media/image43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Relationship Id="rId6" Type="http://schemas.openxmlformats.org/officeDocument/2006/relationships/image" Target="../media/image42.svg" /><Relationship Id="rId5" Type="http://schemas.openxmlformats.org/officeDocument/2006/relationships/image" Target="../media/image41.png" /><Relationship Id="rId4" Type="http://schemas.openxmlformats.org/officeDocument/2006/relationships/image" Target="../media/image40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ECDF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6631" y="138946"/>
            <a:ext cx="5301139" cy="7951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129" y="1305282"/>
            <a:ext cx="7845743" cy="1666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AI-Based Fire Fighting Robot using ESP32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9129" y="3249811"/>
            <a:ext cx="784574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 autonomous, IoT-enabled robot designed to detect, navigate, and extinguish fires — with real-time WhatsApp alerts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9129" y="4051816"/>
            <a:ext cx="3830122" cy="1491853"/>
          </a:xfrm>
          <a:prstGeom prst="roundRect">
            <a:avLst>
              <a:gd name="adj" fmla="val 18650"/>
            </a:avLst>
          </a:prstGeom>
          <a:solidFill>
            <a:srgbClr val="ECDFE3"/>
          </a:solidFill>
          <a:ln/>
        </p:spPr>
      </p:sp>
      <p:sp>
        <p:nvSpPr>
          <p:cNvPr id="7" name="Text 4"/>
          <p:cNvSpPr/>
          <p:nvPr/>
        </p:nvSpPr>
        <p:spPr>
          <a:xfrm>
            <a:off x="834509" y="4237196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Team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4509" y="4764881"/>
            <a:ext cx="3459361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Arun Kumar · Priya S · Karthik R · Divya M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664631" y="4051816"/>
            <a:ext cx="3830241" cy="1491853"/>
          </a:xfrm>
          <a:prstGeom prst="roundRect">
            <a:avLst>
              <a:gd name="adj" fmla="val 18650"/>
            </a:avLst>
          </a:prstGeom>
          <a:solidFill>
            <a:srgbClr val="ECDFE3"/>
          </a:solidFill>
          <a:ln/>
        </p:spPr>
      </p:sp>
      <p:sp>
        <p:nvSpPr>
          <p:cNvPr id="10" name="Text 7"/>
          <p:cNvSpPr/>
          <p:nvPr/>
        </p:nvSpPr>
        <p:spPr>
          <a:xfrm>
            <a:off x="4850011" y="4237196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Department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850011" y="4764881"/>
            <a:ext cx="3459480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Electronics &amp; Communication Engineering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49129" y="5729049"/>
            <a:ext cx="7845743" cy="1195149"/>
          </a:xfrm>
          <a:prstGeom prst="roundRect">
            <a:avLst>
              <a:gd name="adj" fmla="val 23280"/>
            </a:avLst>
          </a:prstGeom>
          <a:solidFill>
            <a:srgbClr val="ECDFE3"/>
          </a:solidFill>
          <a:ln/>
        </p:spPr>
      </p:sp>
      <p:sp>
        <p:nvSpPr>
          <p:cNvPr id="13" name="Text 10"/>
          <p:cNvSpPr/>
          <p:nvPr/>
        </p:nvSpPr>
        <p:spPr>
          <a:xfrm>
            <a:off x="834509" y="5914430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Institution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34509" y="6442115"/>
            <a:ext cx="7474982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Anna University, Chennai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CDF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1" y="138946"/>
            <a:ext cx="5301139" cy="7951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35529" y="1056084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Introduction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135529" y="235279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135529" y="2954655"/>
            <a:ext cx="3696653" cy="207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 accidents cause thousands of casualties and billions in property damage annually. Traditional firefighting relies heavily on manual intervention — placing human lives at serious risk in unpredictable, high-heat environments.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135529" y="5198507"/>
            <a:ext cx="3696653" cy="191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Delayed response time in large buildings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Firefighters exposed to toxic fumes and extreme heat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systems lack real-time monitoring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292239" y="235279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292239" y="2954655"/>
            <a:ext cx="3696653" cy="1780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Autonomous fire-fighting robots bridge this gap by combining embedded systems, sensor fusion, and IoT connectivity to detect and respond to fires faster — without putting humans at risk.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0292239" y="4943475"/>
            <a:ext cx="3696653" cy="1381363"/>
          </a:xfrm>
          <a:prstGeom prst="roundRect">
            <a:avLst>
              <a:gd name="adj" fmla="val 20142"/>
            </a:avLst>
          </a:prstGeom>
          <a:solidFill>
            <a:srgbClr val="B6D6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619" y="5218628"/>
            <a:ext cx="231815" cy="1853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94814" y="5175171"/>
            <a:ext cx="2908697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Automation is no longer optional in fire safety — it is a necessity.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350883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Project Objectives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9129" y="2554962"/>
            <a:ext cx="13332143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core goals drive this project, from sensing to action to communication.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129" y="3060263"/>
            <a:ext cx="370880" cy="370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129" y="3662958"/>
            <a:ext cx="378880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Detect Fire Automatically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9129" y="4190643"/>
            <a:ext cx="6550104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 three flame sensors to triangulate fire position with high accuracy in real time.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1048" y="3060263"/>
            <a:ext cx="370880" cy="370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1048" y="3662958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Navigate Towards Fire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431048" y="4190643"/>
            <a:ext cx="655022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Drive DC motors intelligently to steer the robot in the direction of the detected flame.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9129" y="5154930"/>
            <a:ext cx="370880" cy="370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129" y="575762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Extinguish the Fire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649129" y="6285309"/>
            <a:ext cx="6550104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Activate the water pump and servo motor to spray water precisely at the fire source.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1048" y="5154930"/>
            <a:ext cx="370880" cy="370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1048" y="5757624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Send Real-Time Alert</a:t>
            </a:r>
            <a:endParaRPr lang="en-US" sz="2600" dirty="0"/>
          </a:p>
        </p:txBody>
      </p:sp>
      <p:sp>
        <p:nvSpPr>
          <p:cNvPr id="15" name="Text 9"/>
          <p:cNvSpPr/>
          <p:nvPr/>
        </p:nvSpPr>
        <p:spPr>
          <a:xfrm>
            <a:off x="7431048" y="6285309"/>
            <a:ext cx="655022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Trigger a WhatsApp notification via WiFi API the moment fire is detected.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768" y="513040"/>
            <a:ext cx="6353413" cy="794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250"/>
              </a:lnSpc>
              <a:buNone/>
            </a:pPr>
            <a:r>
              <a:rPr lang="en-US" sz="50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System Overview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618768" y="1644134"/>
            <a:ext cx="1339286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robot follows a closed-loop sense → decide → act → communicate pipeline.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99" y="2109907"/>
            <a:ext cx="12963882" cy="486465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04509" y="3349022"/>
            <a:ext cx="669639" cy="6696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07902" y="5440597"/>
            <a:ext cx="1955346" cy="108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WiFi Alert</a:t>
            </a:r>
            <a:endParaRPr lang="en-US" sz="3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53003" y="3350277"/>
            <a:ext cx="669639" cy="6696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43631" y="5440597"/>
            <a:ext cx="1955346" cy="108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Water Pump</a:t>
            </a:r>
            <a:endParaRPr lang="en-US" sz="3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2125" y="3350277"/>
            <a:ext cx="669639" cy="66963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92753" y="5440597"/>
            <a:ext cx="1955346" cy="108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Motor Driver</a:t>
            </a:r>
            <a:endParaRPr lang="en-US" sz="3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51246" y="3350277"/>
            <a:ext cx="669639" cy="66963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941875" y="5170021"/>
            <a:ext cx="1955346" cy="1624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ESP32 Processing</a:t>
            </a:r>
            <a:endParaRPr lang="en-US" sz="3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86975" y="3350277"/>
            <a:ext cx="669639" cy="66963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37425" y="5440597"/>
            <a:ext cx="1955346" cy="108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50"/>
              </a:lnSpc>
              <a:buNone/>
            </a:pPr>
            <a:r>
              <a:rPr lang="en-US" sz="3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Flame Sensors</a:t>
            </a:r>
            <a:endParaRPr lang="en-US" sz="3400" dirty="0"/>
          </a:p>
        </p:txBody>
      </p:sp>
      <p:sp>
        <p:nvSpPr>
          <p:cNvPr id="15" name="Text 7"/>
          <p:cNvSpPr/>
          <p:nvPr/>
        </p:nvSpPr>
        <p:spPr>
          <a:xfrm>
            <a:off x="618768" y="7164110"/>
            <a:ext cx="1339286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ESP32 microcontroller acts as the brain — reading sensor data, controlling actuators, and managing wireless communication simultaneously through its dual-core architecture.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1164431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Components Used</a:t>
            </a:r>
            <a:endParaRPr lang="en-US" sz="5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29" y="2484358"/>
            <a:ext cx="4372094" cy="437209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1280" y="2965966"/>
            <a:ext cx="4160996" cy="1611749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58420" y="2965966"/>
            <a:ext cx="91440" cy="1611749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6" name="Text 3"/>
          <p:cNvSpPr/>
          <p:nvPr/>
        </p:nvSpPr>
        <p:spPr>
          <a:xfrm>
            <a:off x="5758101" y="3174206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Microcontroller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758101" y="3776067"/>
            <a:ext cx="3675936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ESP32 DevKit V1 — dual-core, built-in WiFi &amp; Bluetooth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827657" y="2965966"/>
            <a:ext cx="4161115" cy="1611749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04797" y="2965966"/>
            <a:ext cx="91440" cy="1611749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0" name="Text 7"/>
          <p:cNvSpPr/>
          <p:nvPr/>
        </p:nvSpPr>
        <p:spPr>
          <a:xfrm>
            <a:off x="10104477" y="3174206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Sensing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0104477" y="3776067"/>
            <a:ext cx="3676055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3× Flame Sensors (analog IR-based, 60° detection angle each)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481280" y="4763095"/>
            <a:ext cx="4160996" cy="1611749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58420" y="4763095"/>
            <a:ext cx="91440" cy="1611749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4" name="Text 11"/>
          <p:cNvSpPr/>
          <p:nvPr/>
        </p:nvSpPr>
        <p:spPr>
          <a:xfrm>
            <a:off x="5758101" y="4971336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Actuation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758101" y="5573197"/>
            <a:ext cx="3675936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TT DC Motors + L298N Driver · SG90 Servo · 5V Water Pump + Relay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9827657" y="4763095"/>
            <a:ext cx="4161115" cy="1611749"/>
          </a:xfrm>
          <a:prstGeom prst="roundRect">
            <a:avLst>
              <a:gd name="adj" fmla="val 6808"/>
            </a:avLst>
          </a:prstGeom>
          <a:solidFill>
            <a:srgbClr val="FFFFFF"/>
          </a:solidFill>
          <a:ln w="22860">
            <a:solidFill>
              <a:srgbClr val="D2C5C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804797" y="4763095"/>
            <a:ext cx="91440" cy="1611749"/>
          </a:xfrm>
          <a:prstGeom prst="roundRect">
            <a:avLst>
              <a:gd name="adj" fmla="val 304279"/>
            </a:avLst>
          </a:prstGeom>
          <a:solidFill>
            <a:srgbClr val="C7A2AC"/>
          </a:solidFill>
          <a:ln/>
        </p:spPr>
      </p:sp>
      <p:sp>
        <p:nvSpPr>
          <p:cNvPr id="18" name="Text 15"/>
          <p:cNvSpPr/>
          <p:nvPr/>
        </p:nvSpPr>
        <p:spPr>
          <a:xfrm>
            <a:off x="10104477" y="4971336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Power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10104477" y="5573197"/>
            <a:ext cx="3676055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18650 Li-ion Batteries + LM2596 Buck Converter for regulated supply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0832" y="465177"/>
            <a:ext cx="5311854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Block Diagram</a:t>
            </a:r>
            <a:endParaRPr lang="en-US" sz="4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832" y="1438037"/>
            <a:ext cx="6193988" cy="61939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32" y="1438037"/>
            <a:ext cx="6193988" cy="61939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02962" y="3243977"/>
            <a:ext cx="2655927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Signal Flow Summary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502962" y="3693676"/>
            <a:ext cx="6193988" cy="122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Sensors → ESP32:</a:t>
            </a: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Analog flame intensity values read on GPIO pins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ESP32 → L298N:</a:t>
            </a: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PWM signals control motor speed and direction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ESP32 → Servo:</a:t>
            </a: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PWM positions nozzle at fire source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ESP32 → Relay:</a:t>
            </a: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Digital HIGH triggers the water pump</a:t>
            </a:r>
            <a:endParaRPr lang="en-US" sz="1150" dirty="0"/>
          </a:p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150" b="1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ESP32 → WiFi:</a:t>
            </a: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HTTP GET request to CallMeBot WhatsApp API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7502962" y="5052298"/>
            <a:ext cx="6193988" cy="759023"/>
          </a:xfrm>
          <a:prstGeom prst="roundRect">
            <a:avLst>
              <a:gd name="adj" fmla="val 29211"/>
            </a:avLst>
          </a:prstGeom>
          <a:solidFill>
            <a:srgbClr val="E2CFD4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718" y="5260062"/>
            <a:ext cx="184666" cy="1477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83141" y="5206960"/>
            <a:ext cx="5566053" cy="424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control logic runs on ESP32's core 0 while WiFi communication uses core 1 for non-blocking operation.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822246"/>
            <a:ext cx="6665952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Working Principle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7303770" y="2026325"/>
            <a:ext cx="22860" cy="4578906"/>
          </a:xfrm>
          <a:prstGeom prst="roundRect">
            <a:avLst>
              <a:gd name="adj" fmla="val 1217116"/>
            </a:avLst>
          </a:prstGeom>
          <a:solidFill>
            <a:srgbClr val="D2C5C9"/>
          </a:solidFill>
          <a:ln/>
        </p:spPr>
      </p:sp>
      <p:sp>
        <p:nvSpPr>
          <p:cNvPr id="4" name="Shape 2"/>
          <p:cNvSpPr/>
          <p:nvPr/>
        </p:nvSpPr>
        <p:spPr>
          <a:xfrm>
            <a:off x="6573024" y="2223492"/>
            <a:ext cx="556379" cy="22860"/>
          </a:xfrm>
          <a:prstGeom prst="roundRect">
            <a:avLst>
              <a:gd name="adj" fmla="val 1217116"/>
            </a:avLst>
          </a:prstGeom>
          <a:solidFill>
            <a:srgbClr val="D2C5C9"/>
          </a:solidFill>
          <a:ln/>
        </p:spPr>
      </p:sp>
      <p:sp>
        <p:nvSpPr>
          <p:cNvPr id="5" name="Shape 3"/>
          <p:cNvSpPr/>
          <p:nvPr/>
        </p:nvSpPr>
        <p:spPr>
          <a:xfrm>
            <a:off x="7106543" y="2026325"/>
            <a:ext cx="417314" cy="417314"/>
          </a:xfrm>
          <a:prstGeom prst="roundRect">
            <a:avLst>
              <a:gd name="adj" fmla="val 66672"/>
            </a:avLst>
          </a:prstGeom>
          <a:solidFill>
            <a:srgbClr val="ECDFE3"/>
          </a:solidFill>
          <a:ln/>
        </p:spPr>
      </p:sp>
      <p:sp>
        <p:nvSpPr>
          <p:cNvPr id="6" name="Text 4"/>
          <p:cNvSpPr/>
          <p:nvPr/>
        </p:nvSpPr>
        <p:spPr>
          <a:xfrm>
            <a:off x="7115175" y="1984950"/>
            <a:ext cx="399931" cy="499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1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3054906" y="2090023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Flame Detection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9129" y="2617708"/>
            <a:ext cx="573869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Left, centre, and right sensors output analog values. Lower value = stronger flame signal in that direction.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500997" y="3336250"/>
            <a:ext cx="556379" cy="22860"/>
          </a:xfrm>
          <a:prstGeom prst="roundRect">
            <a:avLst>
              <a:gd name="adj" fmla="val 1217116"/>
            </a:avLst>
          </a:prstGeom>
          <a:solidFill>
            <a:srgbClr val="D2C5C9"/>
          </a:solidFill>
          <a:ln/>
        </p:spPr>
      </p:sp>
      <p:sp>
        <p:nvSpPr>
          <p:cNvPr id="10" name="Shape 8"/>
          <p:cNvSpPr/>
          <p:nvPr/>
        </p:nvSpPr>
        <p:spPr>
          <a:xfrm>
            <a:off x="7106543" y="3139083"/>
            <a:ext cx="417314" cy="417314"/>
          </a:xfrm>
          <a:prstGeom prst="roundRect">
            <a:avLst>
              <a:gd name="adj" fmla="val 66672"/>
            </a:avLst>
          </a:prstGeom>
          <a:solidFill>
            <a:srgbClr val="ECDFE3"/>
          </a:solidFill>
          <a:ln/>
        </p:spPr>
      </p:sp>
      <p:sp>
        <p:nvSpPr>
          <p:cNvPr id="11" name="Text 9"/>
          <p:cNvSpPr/>
          <p:nvPr/>
        </p:nvSpPr>
        <p:spPr>
          <a:xfrm>
            <a:off x="7115175" y="3097709"/>
            <a:ext cx="399931" cy="499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2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8242578" y="3202781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Direction Logic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42578" y="3730466"/>
            <a:ext cx="573869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ESP32 compares sensor readings. Steers left, right, or straight based on which sensor registers the minimum value.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573024" y="4295418"/>
            <a:ext cx="556379" cy="22860"/>
          </a:xfrm>
          <a:prstGeom prst="roundRect">
            <a:avLst>
              <a:gd name="adj" fmla="val 1217116"/>
            </a:avLst>
          </a:prstGeom>
          <a:solidFill>
            <a:srgbClr val="D2C5C9"/>
          </a:solidFill>
          <a:ln/>
        </p:spPr>
      </p:sp>
      <p:sp>
        <p:nvSpPr>
          <p:cNvPr id="15" name="Shape 13"/>
          <p:cNvSpPr/>
          <p:nvPr/>
        </p:nvSpPr>
        <p:spPr>
          <a:xfrm>
            <a:off x="7106543" y="4098250"/>
            <a:ext cx="417314" cy="417314"/>
          </a:xfrm>
          <a:prstGeom prst="roundRect">
            <a:avLst>
              <a:gd name="adj" fmla="val 66672"/>
            </a:avLst>
          </a:prstGeom>
          <a:solidFill>
            <a:srgbClr val="ECDFE3"/>
          </a:solidFill>
          <a:ln/>
        </p:spPr>
      </p:sp>
      <p:sp>
        <p:nvSpPr>
          <p:cNvPr id="16" name="Text 14"/>
          <p:cNvSpPr/>
          <p:nvPr/>
        </p:nvSpPr>
        <p:spPr>
          <a:xfrm>
            <a:off x="7115175" y="4056876"/>
            <a:ext cx="399931" cy="499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3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3054906" y="416194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Fire Suppression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9129" y="4689634"/>
            <a:ext cx="573869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When centre sensor crosses the fire threshold, the relay activates the pump and servo sweeps to spread water.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500997" y="5254704"/>
            <a:ext cx="556379" cy="22860"/>
          </a:xfrm>
          <a:prstGeom prst="roundRect">
            <a:avLst>
              <a:gd name="adj" fmla="val 1217116"/>
            </a:avLst>
          </a:prstGeom>
          <a:solidFill>
            <a:srgbClr val="D2C5C9"/>
          </a:solidFill>
          <a:ln/>
        </p:spPr>
      </p:sp>
      <p:sp>
        <p:nvSpPr>
          <p:cNvPr id="20" name="Shape 18"/>
          <p:cNvSpPr/>
          <p:nvPr/>
        </p:nvSpPr>
        <p:spPr>
          <a:xfrm>
            <a:off x="7106543" y="5057537"/>
            <a:ext cx="417314" cy="417314"/>
          </a:xfrm>
          <a:prstGeom prst="roundRect">
            <a:avLst>
              <a:gd name="adj" fmla="val 66672"/>
            </a:avLst>
          </a:prstGeom>
          <a:solidFill>
            <a:srgbClr val="ECDFE3"/>
          </a:solidFill>
          <a:ln/>
        </p:spPr>
      </p:sp>
      <p:sp>
        <p:nvSpPr>
          <p:cNvPr id="21" name="Text 19"/>
          <p:cNvSpPr/>
          <p:nvPr/>
        </p:nvSpPr>
        <p:spPr>
          <a:xfrm>
            <a:off x="7115175" y="5016163"/>
            <a:ext cx="399931" cy="499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4</a:t>
            </a:r>
            <a:endParaRPr lang="en-US" sz="3100" dirty="0"/>
          </a:p>
        </p:txBody>
      </p:sp>
      <p:sp>
        <p:nvSpPr>
          <p:cNvPr id="22" name="Text 20"/>
          <p:cNvSpPr/>
          <p:nvPr/>
        </p:nvSpPr>
        <p:spPr>
          <a:xfrm>
            <a:off x="8242578" y="5121235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Alert Dispatch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242578" y="5648920"/>
            <a:ext cx="573869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Simultaneously, ESP32 sends an HTTP request to the WhatsApp API — notifying the operator instantly over WiFi.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129" y="6813828"/>
            <a:ext cx="13332143" cy="593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robot continuously loops through this pipeline — stopping all actuators once all three sensors read above the safe threshold, confirming fire extinction.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5816" y="418147"/>
            <a:ext cx="5416034" cy="676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Algorithm / Flowchart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16" y="2499955"/>
            <a:ext cx="8320326" cy="40901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87165" y="2816544"/>
            <a:ext cx="2735270" cy="341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Activate Response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4887165" y="3226042"/>
            <a:ext cx="3847877" cy="172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Move, pump, alert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7978" y="2972203"/>
            <a:ext cx="270620" cy="2706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87165" y="3772171"/>
            <a:ext cx="2735270" cy="341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Fire Detected?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4887165" y="4181668"/>
            <a:ext cx="3847877" cy="172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Threshold comparison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17978" y="3800977"/>
            <a:ext cx="270620" cy="2706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87165" y="4727797"/>
            <a:ext cx="2735270" cy="341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Read Flame Sensors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4887165" y="5137295"/>
            <a:ext cx="3847877" cy="172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analogRead on GPIOs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17978" y="4621294"/>
            <a:ext cx="270620" cy="2706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95622" y="5683424"/>
            <a:ext cx="2735270" cy="341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Start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4895622" y="6092921"/>
            <a:ext cx="3847877" cy="172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Initialize sensors and loop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17978" y="5576920"/>
            <a:ext cx="270620" cy="2706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11427" y="1401128"/>
            <a:ext cx="3140154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Code Structure Highlights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9511427" y="1877258"/>
            <a:ext cx="301347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9511427" y="2118122"/>
            <a:ext cx="4310539" cy="1524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9" name="Text 12"/>
          <p:cNvSpPr/>
          <p:nvPr/>
        </p:nvSpPr>
        <p:spPr>
          <a:xfrm>
            <a:off x="9511427" y="2223849"/>
            <a:ext cx="2707958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Sensor Reading</a:t>
            </a:r>
            <a:endParaRPr lang="en-US" sz="2100" dirty="0"/>
          </a:p>
        </p:txBody>
      </p:sp>
      <p:sp>
        <p:nvSpPr>
          <p:cNvPr id="20" name="Text 13"/>
          <p:cNvSpPr/>
          <p:nvPr/>
        </p:nvSpPr>
        <p:spPr>
          <a:xfrm>
            <a:off x="9511427" y="2684621"/>
            <a:ext cx="4310539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analogRead() on GPIO 34, 35, 32 — sampled every 100 ms loop cycle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9511427" y="3356967"/>
            <a:ext cx="301347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9511427" y="3597831"/>
            <a:ext cx="4310539" cy="1524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3" name="Text 16"/>
          <p:cNvSpPr/>
          <p:nvPr/>
        </p:nvSpPr>
        <p:spPr>
          <a:xfrm>
            <a:off x="9511427" y="3703558"/>
            <a:ext cx="2707958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Motor Control</a:t>
            </a:r>
            <a:endParaRPr lang="en-US" sz="2100" dirty="0"/>
          </a:p>
        </p:txBody>
      </p:sp>
      <p:sp>
        <p:nvSpPr>
          <p:cNvPr id="24" name="Text 17"/>
          <p:cNvSpPr/>
          <p:nvPr/>
        </p:nvSpPr>
        <p:spPr>
          <a:xfrm>
            <a:off x="9511427" y="4164330"/>
            <a:ext cx="4310539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digitalWrite() on IN1–IN4 pins of L298N; PWM via ledcWrite() for speed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9511427" y="4836676"/>
            <a:ext cx="301347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9511427" y="5077539"/>
            <a:ext cx="4310539" cy="1524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7" name="Text 20"/>
          <p:cNvSpPr/>
          <p:nvPr/>
        </p:nvSpPr>
        <p:spPr>
          <a:xfrm>
            <a:off x="9511427" y="5183267"/>
            <a:ext cx="2707958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Fire Logic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9511427" y="5644039"/>
            <a:ext cx="4310539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Threshold comparison (sensorVal &lt; FIRE_THRESHOLD) triggers action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511427" y="6316385"/>
            <a:ext cx="301347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04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9511427" y="6557248"/>
            <a:ext cx="4310539" cy="15240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31" name="Text 24"/>
          <p:cNvSpPr/>
          <p:nvPr/>
        </p:nvSpPr>
        <p:spPr>
          <a:xfrm>
            <a:off x="9511427" y="6662976"/>
            <a:ext cx="2707958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WhatsApp Alert</a:t>
            </a:r>
            <a:endParaRPr lang="en-US" sz="2100" dirty="0"/>
          </a:p>
        </p:txBody>
      </p:sp>
      <p:sp>
        <p:nvSpPr>
          <p:cNvPr id="32" name="Text 25"/>
          <p:cNvSpPr/>
          <p:nvPr/>
        </p:nvSpPr>
        <p:spPr>
          <a:xfrm>
            <a:off x="9511427" y="7123748"/>
            <a:ext cx="4310539" cy="43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HTTPClient sends GET request to CallMeBot API with encoded message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CDFE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5" y="115133"/>
            <a:ext cx="5332809" cy="79992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3967" y="489704"/>
            <a:ext cx="5520214" cy="689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Results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6023967" y="1447205"/>
            <a:ext cx="8068866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&lt;2s</a:t>
            </a:r>
            <a:endParaRPr lang="en-US" sz="3950" dirty="0"/>
          </a:p>
        </p:txBody>
      </p:sp>
      <p:sp>
        <p:nvSpPr>
          <p:cNvPr id="6" name="Text 3"/>
          <p:cNvSpPr/>
          <p:nvPr/>
        </p:nvSpPr>
        <p:spPr>
          <a:xfrm>
            <a:off x="8678347" y="2126218"/>
            <a:ext cx="2760107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Detection Time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023967" y="2547461"/>
            <a:ext cx="806886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Flame detected and response initiated within 2 seconds of exposure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23967" y="3103126"/>
            <a:ext cx="8068866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~1m</a:t>
            </a:r>
            <a:endParaRPr lang="en-US" sz="3950" dirty="0"/>
          </a:p>
        </p:txBody>
      </p:sp>
      <p:sp>
        <p:nvSpPr>
          <p:cNvPr id="9" name="Text 6"/>
          <p:cNvSpPr/>
          <p:nvPr/>
        </p:nvSpPr>
        <p:spPr>
          <a:xfrm>
            <a:off x="8678347" y="3782139"/>
            <a:ext cx="2760107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Effective Range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6023967" y="4203383"/>
            <a:ext cx="806886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Flame sensor reliably detects fire up to 1 metre in open conditions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023967" y="4759047"/>
            <a:ext cx="8068866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360°</a:t>
            </a:r>
            <a:endParaRPr lang="en-US" sz="3950" dirty="0"/>
          </a:p>
        </p:txBody>
      </p:sp>
      <p:sp>
        <p:nvSpPr>
          <p:cNvPr id="12" name="Text 9"/>
          <p:cNvSpPr/>
          <p:nvPr/>
        </p:nvSpPr>
        <p:spPr>
          <a:xfrm>
            <a:off x="8678347" y="5438061"/>
            <a:ext cx="2760107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Servo Sweep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023967" y="5859304"/>
            <a:ext cx="806886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Servo rotates nozzle across full arc for maximum water coverage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023967" y="6414968"/>
            <a:ext cx="8068866" cy="506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5s</a:t>
            </a:r>
            <a:endParaRPr lang="en-US" sz="3950" dirty="0"/>
          </a:p>
        </p:txBody>
      </p:sp>
      <p:sp>
        <p:nvSpPr>
          <p:cNvPr id="15" name="Text 12"/>
          <p:cNvSpPr/>
          <p:nvPr/>
        </p:nvSpPr>
        <p:spPr>
          <a:xfrm>
            <a:off x="8678347" y="7093982"/>
            <a:ext cx="2760107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1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Alert Latency</a:t>
            </a:r>
            <a:endParaRPr lang="en-US" sz="2150" dirty="0"/>
          </a:p>
        </p:txBody>
      </p:sp>
      <p:sp>
        <p:nvSpPr>
          <p:cNvPr id="16" name="Text 13"/>
          <p:cNvSpPr/>
          <p:nvPr/>
        </p:nvSpPr>
        <p:spPr>
          <a:xfrm>
            <a:off x="6023967" y="7515225"/>
            <a:ext cx="806886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WhatsApp notification delivered within 5 seconds on a stable network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129" y="649129"/>
            <a:ext cx="11828621" cy="833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50"/>
              </a:lnSpc>
              <a:buNone/>
            </a:pPr>
            <a:r>
              <a:rPr lang="en-US" sz="52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Advantages, Limitations &amp; Future Scope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49129" y="1945838"/>
            <a:ext cx="3944779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Advantages &amp;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9129" y="2570917"/>
            <a:ext cx="3127177" cy="2604492"/>
          </a:xfrm>
          <a:prstGeom prst="roundRect">
            <a:avLst>
              <a:gd name="adj" fmla="val 10683"/>
            </a:avLst>
          </a:prstGeom>
          <a:solidFill>
            <a:srgbClr val="ECDFE3"/>
          </a:solidFill>
          <a:ln/>
        </p:spPr>
      </p:sp>
      <p:sp>
        <p:nvSpPr>
          <p:cNvPr id="5" name="Shape 3"/>
          <p:cNvSpPr/>
          <p:nvPr/>
        </p:nvSpPr>
        <p:spPr>
          <a:xfrm>
            <a:off x="834509" y="2756297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7504" y="2909173"/>
            <a:ext cx="250388" cy="2503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4509" y="3498056"/>
            <a:ext cx="2756416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Human Safety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34509" y="4099917"/>
            <a:ext cx="2756416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Eliminates need for manual intervention in dangerous environments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961686" y="2570917"/>
            <a:ext cx="3127296" cy="2604492"/>
          </a:xfrm>
          <a:prstGeom prst="roundRect">
            <a:avLst>
              <a:gd name="adj" fmla="val 10683"/>
            </a:avLst>
          </a:prstGeom>
          <a:solidFill>
            <a:srgbClr val="ECDFE3"/>
          </a:solidFill>
          <a:ln/>
        </p:spPr>
      </p:sp>
      <p:sp>
        <p:nvSpPr>
          <p:cNvPr id="10" name="Shape 7"/>
          <p:cNvSpPr/>
          <p:nvPr/>
        </p:nvSpPr>
        <p:spPr>
          <a:xfrm>
            <a:off x="4147066" y="2756297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0061" y="2909173"/>
            <a:ext cx="250388" cy="2503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47066" y="3498056"/>
            <a:ext cx="2756535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Wide Applications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147066" y="4099917"/>
            <a:ext cx="2756535" cy="89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Homes, warehouses, industrial plants, small-scale forest monitoring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49129" y="5360789"/>
            <a:ext cx="6439853" cy="2011085"/>
          </a:xfrm>
          <a:prstGeom prst="roundRect">
            <a:avLst>
              <a:gd name="adj" fmla="val 13835"/>
            </a:avLst>
          </a:prstGeom>
          <a:solidFill>
            <a:srgbClr val="ECDFE3"/>
          </a:solidFill>
          <a:ln/>
        </p:spPr>
      </p:sp>
      <p:sp>
        <p:nvSpPr>
          <p:cNvPr id="15" name="Shape 11"/>
          <p:cNvSpPr/>
          <p:nvPr/>
        </p:nvSpPr>
        <p:spPr>
          <a:xfrm>
            <a:off x="834509" y="5546169"/>
            <a:ext cx="556379" cy="556379"/>
          </a:xfrm>
          <a:prstGeom prst="roundRect">
            <a:avLst>
              <a:gd name="adj" fmla="val 16433197"/>
            </a:avLst>
          </a:prstGeom>
          <a:solidFill>
            <a:srgbClr val="C7A2A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7504" y="5699046"/>
            <a:ext cx="250388" cy="2503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4509" y="628792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Low Cost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834509" y="6889790"/>
            <a:ext cx="6069092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under ₹3,000 using off-the-shelf components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7415451" y="1760458"/>
            <a:ext cx="6707029" cy="5820013"/>
          </a:xfrm>
          <a:prstGeom prst="roundRect">
            <a:avLst>
              <a:gd name="adj" fmla="val 7649"/>
            </a:avLst>
          </a:prstGeom>
          <a:solidFill>
            <a:srgbClr val="C7A2AC"/>
          </a:solidFill>
          <a:ln/>
        </p:spPr>
      </p:sp>
      <p:sp>
        <p:nvSpPr>
          <p:cNvPr id="20" name="Text 15"/>
          <p:cNvSpPr/>
          <p:nvPr/>
        </p:nvSpPr>
        <p:spPr>
          <a:xfrm>
            <a:off x="7600831" y="1945838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7600831" y="2547699"/>
            <a:ext cx="6336268" cy="1019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Limited water tank capacity — suitable for small fires only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Battery life restricts continuous operation time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degrades in complex terrain or poor WiFi coverage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7600831" y="3752969"/>
            <a:ext cx="3332917" cy="416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7600831" y="4354830"/>
            <a:ext cx="6336268" cy="1381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 ESP32-CAM for real-time visual feedback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Add ML-based fire classification for improved accuracy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Replace WiFi with GSM (SIM800L) for network-independent alerts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Multi-robot coordination for large-scale environments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thiriloshaniraju@gmail.com</cp:lastModifiedBy>
  <cp:revision>2</cp:revision>
  <dcterms:created xsi:type="dcterms:W3CDTF">2026-04-20T15:38:49Z</dcterms:created>
  <dcterms:modified xsi:type="dcterms:W3CDTF">2026-07-22T16:11:25Z</dcterms:modified>
</cp:coreProperties>
</file>